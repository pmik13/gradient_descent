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1097280"/>
            <a:ext cx="5806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9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Interaktywna aplikacja do regresji wielomianowej</a:t>
            </a:r>
            <a:endParaRPr lang="en-US" sz="3900" dirty="0"/>
          </a:p>
        </p:txBody>
      </p:sp>
      <p:sp>
        <p:nvSpPr>
          <p:cNvPr id="4" name="Text 2"/>
          <p:cNvSpPr/>
          <p:nvPr/>
        </p:nvSpPr>
        <p:spPr>
          <a:xfrm>
            <a:off x="694944" y="2615184"/>
            <a:ext cx="5852160" cy="4572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</a:rPr>
              <a:t>Dopasowanie modelu do danych, MSE/RMSE oraz krzywa uczenia w Pythonie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94944" y="3337560"/>
            <a:ext cx="1600200" cy="329184"/>
          </a:xfrm>
          <a:prstGeom prst="rect">
            <a:avLst/>
          </a:prstGeom>
          <a:solidFill>
            <a:srgbClr val="0F2D2E"/>
          </a:solidFill>
          <a:ln>
            <a:solidFill>
              <a:srgbClr val="14B8A6">
                <a:alpha val="45000"/>
              </a:srgbClr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B8A6"/>
                </a:solidFill>
              </a:rPr>
              <a:t>Matplotlib widgets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432304" y="3337560"/>
            <a:ext cx="1536192" cy="329184"/>
          </a:xfrm>
          <a:prstGeom prst="rect">
            <a:avLst/>
          </a:prstGeom>
          <a:solidFill>
            <a:srgbClr val="20153B"/>
          </a:solidFill>
          <a:ln>
            <a:solidFill>
              <a:srgbClr val="A78BFA">
                <a:alpha val="45000"/>
              </a:srgbClr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78BFA"/>
                </a:solidFill>
              </a:rPr>
              <a:t>Gradient descent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14800" y="3337560"/>
            <a:ext cx="1234440" cy="329184"/>
          </a:xfrm>
          <a:prstGeom prst="rect">
            <a:avLst/>
          </a:prstGeom>
          <a:solidFill>
            <a:srgbClr val="3A2509"/>
          </a:solidFill>
          <a:ln>
            <a:solidFill>
              <a:srgbClr val="F59E0B">
                <a:alpha val="45000"/>
              </a:srgbClr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MSE + RMSE</a:t>
            </a:r>
            <a:endParaRPr lang="en-US" sz="1100" dirty="0"/>
          </a:p>
        </p:txBody>
      </p:sp>
      <p:pic>
        <p:nvPicPr>
          <p:cNvPr id="8" name="Image 0" descr="/mnt/data/app_full.png">    </p:cNvPr>
          <p:cNvPicPr>
            <a:picLocks noChangeAspect="1"/>
          </p:cNvPicPr>
          <p:nvPr/>
        </p:nvPicPr>
        <p:blipFill>
          <a:blip r:embed="rId1"/>
          <a:srcRect l="5470" r="5470" t="0" b="0"/>
          <a:stretch/>
        </p:blipFill>
        <p:spPr>
          <a:xfrm>
            <a:off x="6812280" y="1051560"/>
            <a:ext cx="4389120" cy="25603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812280" y="3977640"/>
            <a:ext cx="4343400" cy="5669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E2E8F0"/>
                </a:solidFill>
              </a:rPr>
              <a:t>Na screenie widać model stopnia 1 dopasowany do danych o kształcie krzywej - dlatego czerwona linia jest za prosta.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694944" y="6236208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Prezentacja na podstawie pliku main(1).py i zrzutu ekranu aplikacji.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11155680" y="644652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01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20624"/>
            <a:ext cx="3931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REGRESJA WIELOMIANOWA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621792" y="749808"/>
            <a:ext cx="7955280" cy="5486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Jaki problem rozwiązuje aplikacja?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353312"/>
            <a:ext cx="612648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</a:rPr>
              <a:t>Aplikacja pokazuje, jak model matematyczny uczy się dopasowywać do punktów danych.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13232" y="202996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Idea od zera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13232" y="2514600"/>
            <a:ext cx="4480560" cy="24231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</a:rPr>
              <a:t>Mamy punkty: pary wartości X i Y.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</a:rPr>
              <a:t>Szukamy funkcji, która możliwie dobrze przewiduje Y na podstawie X.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</a:rPr>
              <a:t>Model ma parametry θ, które są poprawiane w kolejnych epokach uczenia.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</a:rPr>
              <a:t>Na końcu mierzymy, jak duży błąd robi model.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760720" y="2148840"/>
            <a:ext cx="1508760" cy="786384"/>
          </a:xfrm>
          <a:prstGeom prst="rect">
            <a:avLst/>
          </a:prstGeom>
          <a:solidFill>
            <a:srgbClr val="E0F2FE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Dane wejściowe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(x, y)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33488" y="2542032"/>
            <a:ext cx="850392" cy="0"/>
          </a:xfrm>
          <a:prstGeom prst="line">
            <a:avLst/>
          </a:prstGeom>
          <a:noFill/>
          <a:ln w="25400">
            <a:solidFill>
              <a:srgbClr val="14B8A6"/>
            </a:solidFill>
            <a:prstDash val="solid"/>
            <a:headEnd type="none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8275320" y="2148840"/>
            <a:ext cx="1508760" cy="786384"/>
          </a:xfrm>
          <a:prstGeom prst="rect">
            <a:avLst/>
          </a:prstGeom>
          <a:solidFill>
            <a:srgbClr val="F5F3FF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Model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ŷ = f(x)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9857232" y="2542032"/>
            <a:ext cx="859536" cy="0"/>
          </a:xfrm>
          <a:prstGeom prst="line">
            <a:avLst/>
          </a:prstGeom>
          <a:noFill/>
          <a:ln w="25400">
            <a:solidFill>
              <a:srgbClr val="7C3AED"/>
            </a:solidFill>
            <a:prstDash val="solid"/>
            <a:headEnd type="none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10808208" y="2148840"/>
            <a:ext cx="914400" cy="786384"/>
          </a:xfrm>
          <a:prstGeom prst="rect">
            <a:avLst/>
          </a:prstGeom>
          <a:solidFill>
            <a:srgbClr val="FEF3C7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Błąd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ŷ - y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9326880" y="3127248"/>
            <a:ext cx="-2560320" cy="91440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  <a:headEnd type="none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5742432" y="4315968"/>
            <a:ext cx="580644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Pętla uczenia: model przewiduje, oblicza błąd i poprawia parametry.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742432" y="4882896"/>
            <a:ext cx="530352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</a:rPr>
              <a:t>To jest przykład regresji, czyli przewidywania wartości liczbowej, a nie klasy.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11155680" y="644652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02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20624"/>
            <a:ext cx="3931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REGRESJA WIELOMIANOWA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621792" y="749808"/>
            <a:ext cx="7955280" cy="5486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Jak wygląda aplikacja?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353312"/>
            <a:ext cx="612648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</a:rPr>
              <a:t>Screen pokazuje jednocześnie dane, dopasowany model, krzywą uczenia i panel parametrów.</a:t>
            </a:r>
            <a:endParaRPr lang="en-US" sz="1350" dirty="0"/>
          </a:p>
        </p:txBody>
      </p:sp>
      <p:pic>
        <p:nvPicPr>
          <p:cNvPr id="6" name="Image 0" descr="/mnt/data/app_full.png">    </p:cNvPr>
          <p:cNvPicPr>
            <a:picLocks noChangeAspect="1"/>
          </p:cNvPicPr>
          <p:nvPr/>
        </p:nvPicPr>
        <p:blipFill>
          <a:blip r:embed="rId1"/>
          <a:srcRect l="0" r="0" t="3" b="3"/>
          <a:stretch/>
        </p:blipFill>
        <p:spPr>
          <a:xfrm>
            <a:off x="694944" y="1737360"/>
            <a:ext cx="7040880" cy="36576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46720" y="1783080"/>
            <a:ext cx="2240280" cy="329184"/>
          </a:xfrm>
          <a:prstGeom prst="rect">
            <a:avLst/>
          </a:prstGeom>
          <a:solidFill>
            <a:srgbClr val="F5F3FF"/>
          </a:solidFill>
          <a:ln>
            <a:solidFill>
              <a:srgbClr val="7C3AED">
                <a:alpha val="45000"/>
              </a:srgbClr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C3AED"/>
                </a:solidFill>
              </a:rPr>
              <a:t>1. Wybór zbioru danych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065008" y="2194560"/>
            <a:ext cx="333756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</a:rPr>
              <a:t>Krzywa, Kalifornia albo Giełda - każdy zbiór ma inny charakter danych.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046720" y="2852928"/>
            <a:ext cx="2011680" cy="329184"/>
          </a:xfrm>
          <a:prstGeom prst="rect">
            <a:avLst/>
          </a:prstGeom>
          <a:solidFill>
            <a:srgbClr val="ECFEFF"/>
          </a:solidFill>
          <a:ln>
            <a:solidFill>
              <a:srgbClr val="14B8A6">
                <a:alpha val="45000"/>
              </a:srgbClr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B8A6"/>
                </a:solidFill>
              </a:rPr>
              <a:t>2. Parametry modelu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065008" y="3264408"/>
            <a:ext cx="3291840" cy="5669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</a:rPr>
              <a:t>Stopień wielomianu decyduje o złożoności, a LR o szybkości uczenia.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8046720" y="4005072"/>
            <a:ext cx="1783080" cy="329184"/>
          </a:xfrm>
          <a:prstGeom prst="rect">
            <a:avLst/>
          </a:prstGeom>
          <a:solidFill>
            <a:srgbClr val="FFFBEB"/>
          </a:solidFill>
          <a:ln>
            <a:solidFill>
              <a:srgbClr val="F59E0B">
                <a:alpha val="45000"/>
              </a:srgbClr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3. Wynik uczenia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8065008" y="4416552"/>
            <a:ext cx="3291840" cy="5669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</a:rPr>
              <a:t>MSE i RMSE mówią, jak bardzo predykcje różnią się od danych.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7891272" y="1938528"/>
            <a:ext cx="-5148072" cy="2834640"/>
          </a:xfrm>
          <a:prstGeom prst="line">
            <a:avLst/>
          </a:prstGeom>
          <a:noFill/>
          <a:ln w="25400">
            <a:solidFill>
              <a:srgbClr val="7C3AED"/>
            </a:solidFill>
            <a:prstDash val="solid"/>
            <a:headEnd type="none"/>
            <a:tailEnd type="triangle"/>
          </a:ln>
        </p:spPr>
      </p:sp>
      <p:sp>
        <p:nvSpPr>
          <p:cNvPr id="14" name="Shape 11"/>
          <p:cNvSpPr/>
          <p:nvPr/>
        </p:nvSpPr>
        <p:spPr>
          <a:xfrm>
            <a:off x="7891272" y="3035808"/>
            <a:ext cx="-4233672" cy="1719072"/>
          </a:xfrm>
          <a:prstGeom prst="line">
            <a:avLst/>
          </a:prstGeom>
          <a:noFill/>
          <a:ln w="25400">
            <a:solidFill>
              <a:srgbClr val="14B8A6"/>
            </a:solidFill>
            <a:prstDash val="solid"/>
            <a:headEnd type="none"/>
            <a:tailEnd type="triangle"/>
          </a:ln>
        </p:spPr>
      </p:sp>
      <p:sp>
        <p:nvSpPr>
          <p:cNvPr id="15" name="Shape 12"/>
          <p:cNvSpPr/>
          <p:nvPr/>
        </p:nvSpPr>
        <p:spPr>
          <a:xfrm>
            <a:off x="7891272" y="4178808"/>
            <a:ext cx="-2587752" cy="73152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  <a:headEnd type="none"/>
            <a:tailEnd type="triangle"/>
          </a:ln>
        </p:spPr>
      </p:sp>
      <p:sp>
        <p:nvSpPr>
          <p:cNvPr id="16" name="Text 13"/>
          <p:cNvSpPr/>
          <p:nvPr/>
        </p:nvSpPr>
        <p:spPr>
          <a:xfrm>
            <a:off x="11155680" y="644652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03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20624"/>
            <a:ext cx="3931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REGRESJA WIELOMIANOWA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621792" y="749808"/>
            <a:ext cx="7955280" cy="5486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Regresja wielomianowa - główny wzór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353312"/>
            <a:ext cx="612648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</a:rPr>
              <a:t>Zamiast zawsze dopasowywać prostą linię, model może korzystać z potęg zmiennej X.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822960" y="1920240"/>
            <a:ext cx="5074920" cy="555498"/>
          </a:xfrm>
          <a:prstGeom prst="rect">
            <a:avLst/>
          </a:prstGeom>
          <a:solidFill>
            <a:srgbClr val="FFFFFF"/>
          </a:solidFill>
          <a:ln w="15240">
            <a:solidFill>
              <a:srgbClr val="7C3AED">
                <a:alpha val="75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0F172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ŷ = θ₀ + θ₁x + θ₂x² + … + θ_d xᵈ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822960" y="2525116"/>
            <a:ext cx="5074920" cy="555498"/>
          </a:xfrm>
          <a:prstGeom prst="rect">
            <a:avLst/>
          </a:prstGeom>
          <a:solidFill>
            <a:srgbClr val="F8FAFC"/>
          </a:solidFill>
          <a:ln>
            <a:solidFill>
              <a:srgbClr val="CBD5E1">
                <a:alpha val="6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334155"/>
                </a:solidFill>
              </a:rPr>
              <a:t>ŷ to przewidywana wartość, θ to parametry modelu, d to stopień wielomianu.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68680" y="3529584"/>
            <a:ext cx="4892040" cy="5669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W kodzie odpowiada za to funkcja create_polynomial_features(x, degree). Buduje ona macierz cech: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22960" y="4315968"/>
            <a:ext cx="5074920" cy="473202"/>
          </a:xfrm>
          <a:prstGeom prst="rect">
            <a:avLst/>
          </a:prstGeom>
          <a:solidFill>
            <a:srgbClr val="FFFFFF"/>
          </a:solidFill>
          <a:ln w="15240">
            <a:solidFill>
              <a:srgbClr val="14B8A6">
                <a:alpha val="75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0F172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X = [1, x, x², …, xᵈ]</a:t>
            </a:r>
            <a:endParaRPr lang="en-US" sz="2300" dirty="0"/>
          </a:p>
        </p:txBody>
      </p:sp>
      <p:sp>
        <p:nvSpPr>
          <p:cNvPr id="10" name="Text 8"/>
          <p:cNvSpPr/>
          <p:nvPr/>
        </p:nvSpPr>
        <p:spPr>
          <a:xfrm>
            <a:off x="822960" y="4831232"/>
            <a:ext cx="5074920" cy="473202"/>
          </a:xfrm>
          <a:prstGeom prst="rect">
            <a:avLst/>
          </a:prstGeom>
          <a:solidFill>
            <a:srgbClr val="F8FAFC"/>
          </a:solidFill>
          <a:ln>
            <a:solidFill>
              <a:srgbClr val="CBD5E1">
                <a:alpha val="6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334155"/>
                </a:solidFill>
              </a:rPr>
              <a:t>Kolumna z jedynkami pozwala modelowi nauczyć się wyrazu wolnego θ₀.</a:t>
            </a:r>
            <a:endParaRPr lang="en-US" sz="1250" dirty="0"/>
          </a:p>
        </p:txBody>
      </p:sp>
      <p:pic>
        <p:nvPicPr>
          <p:cNvPr id="11" name="Image 0" descr="/mnt/data/plot_lef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23319" y="1828800"/>
            <a:ext cx="4464121" cy="361188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6446520" y="5623560"/>
            <a:ext cx="461772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20" dirty="0">
                <a:solidFill>
                  <a:srgbClr val="64748B"/>
                </a:solidFill>
              </a:rPr>
              <a:t>Na screenie stopień = 1, więc model ma tylko prostą linię. Dla danych krzywoliniowych to zwykle za mało.</a:t>
            </a:r>
            <a:endParaRPr lang="en-US" sz="1320" dirty="0"/>
          </a:p>
        </p:txBody>
      </p:sp>
      <p:sp>
        <p:nvSpPr>
          <p:cNvPr id="13" name="Text 10"/>
          <p:cNvSpPr/>
          <p:nvPr/>
        </p:nvSpPr>
        <p:spPr>
          <a:xfrm>
            <a:off x="11155680" y="644652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04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20624"/>
            <a:ext cx="3931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REGRESJA WIELOMIANOWA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621792" y="749808"/>
            <a:ext cx="7955280" cy="5486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Jak model wie, że się myli?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353312"/>
            <a:ext cx="612648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</a:rPr>
              <a:t>Najpierw liczymy różnicę między predykcją a prawdziwą wartością, potem uśredniamy błędy.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31520" y="1874520"/>
            <a:ext cx="3657600" cy="543154"/>
          </a:xfrm>
          <a:prstGeom prst="rect">
            <a:avLst/>
          </a:prstGeom>
          <a:solidFill>
            <a:srgbClr val="FFFFFF"/>
          </a:solidFill>
          <a:ln w="15240">
            <a:solidFill>
              <a:srgbClr val="EF4444">
                <a:alpha val="75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0F172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MSE = 1/m · Σ(ŷᵢ − yᵢ)²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731520" y="2465954"/>
            <a:ext cx="3657600" cy="543154"/>
          </a:xfrm>
          <a:prstGeom prst="rect">
            <a:avLst/>
          </a:prstGeom>
          <a:solidFill>
            <a:srgbClr val="F8FAFC"/>
          </a:solidFill>
          <a:ln>
            <a:solidFill>
              <a:srgbClr val="CBD5E1">
                <a:alpha val="6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334155"/>
                </a:solidFill>
              </a:rPr>
              <a:t>Mean Squared Error - średni kwadrat błędu. Duże błędy są karane mocniej.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31520" y="3749040"/>
            <a:ext cx="3657600" cy="543154"/>
          </a:xfrm>
          <a:prstGeom prst="rect">
            <a:avLst/>
          </a:prstGeom>
          <a:solidFill>
            <a:srgbClr val="FFFFFF"/>
          </a:solidFill>
          <a:ln w="15240">
            <a:solidFill>
              <a:srgbClr val="F59E0B">
                <a:alpha val="75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0F172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RMSE = √MSE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731520" y="4340474"/>
            <a:ext cx="3657600" cy="543154"/>
          </a:xfrm>
          <a:prstGeom prst="rect">
            <a:avLst/>
          </a:prstGeom>
          <a:solidFill>
            <a:srgbClr val="F8FAFC"/>
          </a:solidFill>
          <a:ln>
            <a:solidFill>
              <a:srgbClr val="CBD5E1">
                <a:alpha val="6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334155"/>
                </a:solidFill>
              </a:rPr>
              <a:t>Root MSE - błąd w tej samej skali co dane Y, więc łatwiej go czytać.</a:t>
            </a:r>
            <a:endParaRPr lang="en-US" sz="1250" dirty="0"/>
          </a:p>
        </p:txBody>
      </p:sp>
      <p:pic>
        <p:nvPicPr>
          <p:cNvPr id="10" name="Image 0" descr="/mnt/data/resul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74920" y="2165836"/>
            <a:ext cx="4343400" cy="660952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138928" y="32461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W pokazanym wyniku: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5138928" y="3657600"/>
            <a:ext cx="5852160" cy="1600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</a:rPr>
              <a:t>MSE = 34.10, czyli średni kwadrat błędu jest dość wysoki.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</a:rPr>
              <a:t>RMSE = 5.84, więc typowy błąd modelu to około 5.84 jednostki Y.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</a:rPr>
              <a:t>Dla tej krzywej główny powód to zbyt niski stopień wielomianu.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5138928" y="5559552"/>
            <a:ext cx="576072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64748B"/>
                </a:solidFill>
              </a:rPr>
              <a:t>Uwaga: w funkcji straty kod używa J(θ)=1/(2m)Σbłąd², a w podsumowaniu pokazuje klasyczne MSE = 1/mΣbłąd².</a:t>
            </a:r>
            <a:endParaRPr lang="en-US" sz="1220" dirty="0"/>
          </a:p>
        </p:txBody>
      </p:sp>
      <p:sp>
        <p:nvSpPr>
          <p:cNvPr id="14" name="Text 11"/>
          <p:cNvSpPr/>
          <p:nvPr/>
        </p:nvSpPr>
        <p:spPr>
          <a:xfrm>
            <a:off x="11155680" y="644652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05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20624"/>
            <a:ext cx="3931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REGRESJA WIELOMIANOWA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621792" y="749808"/>
            <a:ext cx="7955280" cy="5486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Uczenie, czyli spadek gradientowy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353312"/>
            <a:ext cx="612648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</a:rPr>
              <a:t>Parametry θ są poprawiane małymi krokami tak, aby funkcja straty malała.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13232" y="1856232"/>
            <a:ext cx="4846320" cy="596646"/>
          </a:xfrm>
          <a:prstGeom prst="rect">
            <a:avLst/>
          </a:prstGeom>
          <a:solidFill>
            <a:srgbClr val="FFFFFF"/>
          </a:solidFill>
          <a:ln w="15240">
            <a:solidFill>
              <a:srgbClr val="7C3AED">
                <a:alpha val="75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0F172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θ := θ − α · ∇J(θ)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713232" y="2505913"/>
            <a:ext cx="4846320" cy="596646"/>
          </a:xfrm>
          <a:prstGeom prst="rect">
            <a:avLst/>
          </a:prstGeom>
          <a:solidFill>
            <a:srgbClr val="F8FAFC"/>
          </a:solidFill>
          <a:ln>
            <a:solidFill>
              <a:srgbClr val="CBD5E1">
                <a:alpha val="6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334155"/>
                </a:solidFill>
              </a:rPr>
              <a:t>α to learning rate, czyli krok uczenia. Gradient wskazuje kierunek największego wzrostu błędu, więc odejmujemy go.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13232" y="3785616"/>
            <a:ext cx="4846320" cy="493776"/>
          </a:xfrm>
          <a:prstGeom prst="rect">
            <a:avLst/>
          </a:prstGeom>
          <a:solidFill>
            <a:srgbClr val="FFFFFF"/>
          </a:solidFill>
          <a:ln w="15240">
            <a:solidFill>
              <a:srgbClr val="14B8A6">
                <a:alpha val="75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0F172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∇J(θ) = 1/m · Xᵀ(Xθ − y)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713232" y="4323283"/>
            <a:ext cx="4846320" cy="493776"/>
          </a:xfrm>
          <a:prstGeom prst="rect">
            <a:avLst/>
          </a:prstGeom>
          <a:solidFill>
            <a:srgbClr val="F8FAFC"/>
          </a:solidFill>
          <a:ln>
            <a:solidFill>
              <a:srgbClr val="CBD5E1">
                <a:alpha val="6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334155"/>
                </a:solidFill>
              </a:rPr>
              <a:t>To jest wektor poprawek liczony dla wszystkich parametrów naraz.</a:t>
            </a:r>
            <a:endParaRPr lang="en-US" sz="1250" dirty="0"/>
          </a:p>
        </p:txBody>
      </p:sp>
      <p:pic>
        <p:nvPicPr>
          <p:cNvPr id="10" name="Image 0" descr="/mnt/data/plot_lo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64102" y="1783080"/>
            <a:ext cx="4945979" cy="379476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6291072" y="5760720"/>
            <a:ext cx="489204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Prawa część aplikacji pokazuje, czy błąd faktycznie spada. Na screenie błąd spada szybko, ale zatrzymuje się wysoko, bo model jest zbyt prosty.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11155680" y="644652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06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20624"/>
            <a:ext cx="3931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REGRESJA WIELOMIANOWA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621792" y="749808"/>
            <a:ext cx="7955280" cy="5486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Dlaczego standaryzacja jest ważna?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353312"/>
            <a:ext cx="612648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</a:rPr>
              <a:t>Przy wielomianach wartości x², x³ lub x⁷ mogą bardzo szybko rosnąć. To potrafi rozchwiać uczenie.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86384" y="1874520"/>
            <a:ext cx="4480560" cy="555498"/>
          </a:xfrm>
          <a:prstGeom prst="rect">
            <a:avLst/>
          </a:prstGeom>
          <a:solidFill>
            <a:srgbClr val="FFFFFF"/>
          </a:solidFill>
          <a:ln w="15240">
            <a:solidFill>
              <a:srgbClr val="14B8A6">
                <a:alpha val="75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0F172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z = (x − μ) / σ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786384" y="2479396"/>
            <a:ext cx="4480560" cy="555498"/>
          </a:xfrm>
          <a:prstGeom prst="rect">
            <a:avLst/>
          </a:prstGeom>
          <a:solidFill>
            <a:srgbClr val="F8FAFC"/>
          </a:solidFill>
          <a:ln>
            <a:solidFill>
              <a:srgbClr val="CBD5E1">
                <a:alpha val="6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334155"/>
                </a:solidFill>
              </a:rPr>
              <a:t>W kodzie standaryzowane są wszystkie kolumny oprócz pierwszej kolumny z jedynkami.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715000" y="1965960"/>
            <a:ext cx="1874520" cy="777240"/>
          </a:xfrm>
          <a:prstGeom prst="rect">
            <a:avLst/>
          </a:prstGeom>
          <a:solidFill>
            <a:srgbClr val="E0F2FE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Surowe cechy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[1, x, x², x³]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735824" y="2359152"/>
            <a:ext cx="813816" cy="0"/>
          </a:xfrm>
          <a:prstGeom prst="line">
            <a:avLst/>
          </a:prstGeom>
          <a:noFill/>
          <a:ln w="25400">
            <a:solidFill>
              <a:srgbClr val="14B8A6"/>
            </a:solidFill>
            <a:prstDash val="solid"/>
            <a:headEnd type="none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8650224" y="1965960"/>
            <a:ext cx="1737360" cy="777240"/>
          </a:xfrm>
          <a:prstGeom prst="rect">
            <a:avLst/>
          </a:prstGeom>
          <a:solidFill>
            <a:srgbClr val="F5F3FF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Średnia μ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odchylenie σ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515600" y="2359152"/>
            <a:ext cx="502920" cy="0"/>
          </a:xfrm>
          <a:prstGeom prst="line">
            <a:avLst/>
          </a:prstGeom>
          <a:noFill/>
          <a:ln w="25400">
            <a:solidFill>
              <a:srgbClr val="14B8A6"/>
            </a:solidFill>
            <a:prstDash val="solid"/>
            <a:headEnd type="none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11018520" y="1965960"/>
            <a:ext cx="777240" cy="777240"/>
          </a:xfrm>
          <a:prstGeom prst="rect">
            <a:avLst/>
          </a:prstGeom>
          <a:solidFill>
            <a:srgbClr val="DCFCE7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Cechy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w podobnej skali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742432" y="3383280"/>
            <a:ext cx="5760720" cy="914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Bez standaryzacji przy dużym stopniu wielomianu model może dostać bardzo duże wartości cech. Wtedy gradient robi zbyt mocne kroki, a funkcja straty może stać się NaN lub inf.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742432" y="4608576"/>
            <a:ext cx="5669280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To dlatego aplikacja ma zabezpieczenie: gdy gradient „eksploduje”, pokazuje komunikat i sugeruje zmniejszenie LR.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1155680" y="644652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07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20624"/>
            <a:ext cx="3931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REGRESJA WIELOMIANOWA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621792" y="749808"/>
            <a:ext cx="7955280" cy="5486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 oznaczają parametry w panelu?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353312"/>
            <a:ext cx="612648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</a:rPr>
              <a:t>Najważniejsze są stopień wielomianu i krok uczenia LR.</a:t>
            </a:r>
            <a:endParaRPr lang="en-US" sz="1350" dirty="0"/>
          </a:p>
        </p:txBody>
      </p:sp>
      <p:pic>
        <p:nvPicPr>
          <p:cNvPr id="6" name="Image 0" descr="/mnt/data/controls.png">    </p:cNvPr>
          <p:cNvPicPr>
            <a:picLocks noChangeAspect="1"/>
          </p:cNvPicPr>
          <p:nvPr/>
        </p:nvPicPr>
        <p:blipFill>
          <a:blip r:embed="rId1"/>
          <a:srcRect l="13697" r="13697" t="0" b="0"/>
          <a:stretch/>
        </p:blipFill>
        <p:spPr>
          <a:xfrm>
            <a:off x="713232" y="1828800"/>
            <a:ext cx="6583680" cy="11430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3438144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C3AED"/>
                </a:solidFill>
              </a:rPr>
              <a:t>Stopień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868680" y="3822192"/>
            <a:ext cx="5029200" cy="7498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334155"/>
                </a:solidFill>
              </a:rPr>
              <a:t>Decyduje, jak elastyczna jest krzywa. Stopień 1 to prosta, stopień 2 to parabola, a wyższe stopnie mogą dopasować bardziej złożone kształty.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868680" y="48920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B8A6"/>
                </a:solidFill>
              </a:rPr>
              <a:t>Krok uczenia LR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868680" y="5285232"/>
            <a:ext cx="5029200" cy="5669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334155"/>
                </a:solidFill>
              </a:rPr>
              <a:t>Mówi, jak mocno zmieniamy parametry po jednej epoce. Za mały LR uczy wolno, za duży może rozwalić uczenie.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6565392" y="3273552"/>
            <a:ext cx="1508760" cy="694944"/>
          </a:xfrm>
          <a:prstGeom prst="rect">
            <a:avLst/>
          </a:prstGeom>
          <a:solidFill>
            <a:srgbClr val="F5F3FF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Stopień 1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prosta linia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8174736" y="3621024"/>
            <a:ext cx="566928" cy="0"/>
          </a:xfrm>
          <a:prstGeom prst="line">
            <a:avLst/>
          </a:prstGeom>
          <a:noFill/>
          <a:ln w="25400">
            <a:solidFill>
              <a:srgbClr val="7C3AED"/>
            </a:solidFill>
            <a:prstDash val="solid"/>
            <a:headEnd type="none"/>
            <a:tailEnd type="triangle"/>
          </a:ln>
        </p:spPr>
      </p:sp>
      <p:sp>
        <p:nvSpPr>
          <p:cNvPr id="13" name="Text 10"/>
          <p:cNvSpPr/>
          <p:nvPr/>
        </p:nvSpPr>
        <p:spPr>
          <a:xfrm>
            <a:off x="8823960" y="3273552"/>
            <a:ext cx="1508760" cy="694944"/>
          </a:xfrm>
          <a:prstGeom prst="rect">
            <a:avLst/>
          </a:prstGeom>
          <a:solidFill>
            <a:srgbClr val="ECFEFF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Stopień 2-4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krzywa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10433304" y="3621024"/>
            <a:ext cx="566928" cy="0"/>
          </a:xfrm>
          <a:prstGeom prst="line">
            <a:avLst/>
          </a:prstGeom>
          <a:noFill/>
          <a:ln w="25400">
            <a:solidFill>
              <a:srgbClr val="7C3AED"/>
            </a:solidFill>
            <a:prstDash val="solid"/>
            <a:headEnd type="none"/>
            <a:tailEnd type="triangle"/>
          </a:ln>
        </p:spPr>
      </p:sp>
      <p:sp>
        <p:nvSpPr>
          <p:cNvPr id="15" name="Text 12"/>
          <p:cNvSpPr/>
          <p:nvPr/>
        </p:nvSpPr>
        <p:spPr>
          <a:xfrm>
            <a:off x="11045952" y="3273552"/>
            <a:ext cx="749808" cy="694944"/>
          </a:xfrm>
          <a:prstGeom prst="rect">
            <a:avLst/>
          </a:prstGeom>
          <a:solidFill>
            <a:srgbClr val="FEF3C7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Bardzo wysoki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ryzyko overfitu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6565392" y="4572000"/>
            <a:ext cx="5029200" cy="822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Nie chodzi o to, żeby zawsze dać najwyższy stopień. Dobry model ma pasować do trendu, ale nie powinien uczyć się losowego szumu.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11155680" y="644652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08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20624"/>
            <a:ext cx="3931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REGRESJA WIELOMIANOWA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621792" y="749808"/>
            <a:ext cx="7955280" cy="5486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Underfitting i overfitting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353312"/>
            <a:ext cx="612648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</a:rPr>
              <a:t>Na tym projekcie dobrze widać, że złożoność modelu trzeba dobrać do danych.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822960" y="2057400"/>
            <a:ext cx="2926080" cy="914400"/>
          </a:xfrm>
          <a:prstGeom prst="rect">
            <a:avLst/>
          </a:prstGeom>
          <a:solidFill>
            <a:srgbClr val="FEE2E2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Za prosty model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UNDERFITTING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96112" y="3246120"/>
            <a:ext cx="2743200" cy="9601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334155"/>
                </a:solidFill>
              </a:rPr>
              <a:t>Przykład ze screena: stopień 1 próbuje linią opisać krzywą. Błąd zostaje wysoki.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617720" y="2057400"/>
            <a:ext cx="2926080" cy="914400"/>
          </a:xfrm>
          <a:prstGeom prst="rect">
            <a:avLst/>
          </a:prstGeom>
          <a:solidFill>
            <a:srgbClr val="DCFCE7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Model dobrany sensownie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TREND + MAŁY BŁĄD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709160" y="3246120"/>
            <a:ext cx="2743200" cy="9601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334155"/>
                </a:solidFill>
              </a:rPr>
              <a:t>Wielomian ma wystarczającą elastyczność, ale nadal opisuje ogólny kształt danych.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412480" y="2057400"/>
            <a:ext cx="2926080" cy="914400"/>
          </a:xfrm>
          <a:prstGeom prst="rect">
            <a:avLst/>
          </a:prstGeom>
          <a:solidFill>
            <a:srgbClr val="FEF3C7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Za skomplikowany model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OVERFITTING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503920" y="3246120"/>
            <a:ext cx="2743200" cy="9601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334155"/>
                </a:solidFill>
              </a:rPr>
              <a:t>Model może zacząć „gonić” losowy szum, więc wygląda dobrze na danych treningowych, ale gorzej uogólnia.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913632" y="2514600"/>
            <a:ext cx="530352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7708392" y="2514600"/>
            <a:ext cx="539496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1645920" y="4983480"/>
            <a:ext cx="8823960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Najpraktyczniejsza obserwacja: MSE na danych treningowych nie wystarcza do pełnej oceny modelu. Przy poważniejszym projekcie warto dodać walidację na osobnym zbiorze.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155680" y="644652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09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20624"/>
            <a:ext cx="3931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REGRESJA WIELOMIANOWA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621792" y="749808"/>
            <a:ext cx="7955280" cy="5486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Zbiory danych w kodzie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353312"/>
            <a:ext cx="612648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</a:rPr>
              <a:t>Aplikacja ma trzy tryby, które pokazują trochę inne zachowanie regresji.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914400" y="1920240"/>
            <a:ext cx="2194560" cy="713232"/>
          </a:xfrm>
          <a:prstGeom prst="rect">
            <a:avLst/>
          </a:prstGeom>
          <a:solidFill>
            <a:srgbClr val="F5F3FF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Krzywa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60120" y="2852928"/>
            <a:ext cx="2103120" cy="10058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320" dirty="0">
                <a:solidFill>
                  <a:srgbClr val="334155"/>
                </a:solidFill>
              </a:rPr>
              <a:t>Losowy wielomian z dodanym szumem Gaussa. Najlepszy do pokazania wpływu stopnia wielomianu.</a:t>
            </a:r>
            <a:endParaRPr lang="en-US" sz="1320" dirty="0"/>
          </a:p>
        </p:txBody>
      </p:sp>
      <p:sp>
        <p:nvSpPr>
          <p:cNvPr id="8" name="Text 6"/>
          <p:cNvSpPr/>
          <p:nvPr/>
        </p:nvSpPr>
        <p:spPr>
          <a:xfrm>
            <a:off x="4983480" y="1920240"/>
            <a:ext cx="2194560" cy="713232"/>
          </a:xfrm>
          <a:prstGeom prst="rect">
            <a:avLst/>
          </a:prstGeom>
          <a:solidFill>
            <a:srgbClr val="ECFEFF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Kalifornia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0" y="2852928"/>
            <a:ext cx="2103120" cy="10058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320" dirty="0">
                <a:solidFill>
                  <a:srgbClr val="334155"/>
                </a:solidFill>
              </a:rPr>
              <a:t>Dane z fetch_california_housing: zależność ceny domu od średnich zarobków w okolicy.</a:t>
            </a:r>
            <a:endParaRPr lang="en-US" sz="1320" dirty="0"/>
          </a:p>
        </p:txBody>
      </p:sp>
      <p:sp>
        <p:nvSpPr>
          <p:cNvPr id="10" name="Text 8"/>
          <p:cNvSpPr/>
          <p:nvPr/>
        </p:nvSpPr>
        <p:spPr>
          <a:xfrm>
            <a:off x="9052560" y="1920240"/>
            <a:ext cx="2194560" cy="713232"/>
          </a:xfrm>
          <a:prstGeom prst="rect">
            <a:avLst/>
          </a:prstGeom>
          <a:solidFill>
            <a:srgbClr val="FEF3C7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Giełda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098280" y="2852928"/>
            <a:ext cx="2103120" cy="10058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320" dirty="0">
                <a:solidFill>
                  <a:srgbClr val="334155"/>
                </a:solidFill>
              </a:rPr>
              <a:t>Symulowany kurs akcji jako suma losowych zmian. Tu dane nie muszą mieć prostego wzoru do odtworzenia.</a:t>
            </a:r>
            <a:endParaRPr lang="en-US" sz="1320" dirty="0"/>
          </a:p>
        </p:txBody>
      </p:sp>
      <p:sp>
        <p:nvSpPr>
          <p:cNvPr id="12" name="Shape 10"/>
          <p:cNvSpPr/>
          <p:nvPr/>
        </p:nvSpPr>
        <p:spPr>
          <a:xfrm>
            <a:off x="3310128" y="2286000"/>
            <a:ext cx="1490472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7360920" y="2286000"/>
            <a:ext cx="150876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1143000" y="4846320"/>
            <a:ext cx="9966960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0F172A"/>
                </a:solidFill>
              </a:rPr>
              <a:t>To ważne, bo ta sama metoda może wyglądać dobrze na jednym typie danych, a słabiej na innym. Giełda jest szczególnie zdradliwa, bo losowy szereg czasowy nie jest zwykłą funkcją od dnia.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11155680" y="644652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10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20624"/>
            <a:ext cx="3931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REGRESJA WIELOMIANOWA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621792" y="749808"/>
            <a:ext cx="7955280" cy="5486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Przepływ działania po kliknięciu „Przelicz”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353312"/>
            <a:ext cx="612648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</a:rPr>
              <a:t>To jest najprostsza logika aplikacji w kolejności wykonywania.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1965960" y="2249424"/>
            <a:ext cx="338328" cy="0"/>
          </a:xfrm>
          <a:prstGeom prst="line">
            <a:avLst/>
          </a:prstGeom>
          <a:noFill/>
          <a:ln w="25400">
            <a:solidFill>
              <a:srgbClr val="7C3AED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3721608" y="2249424"/>
            <a:ext cx="338328" cy="0"/>
          </a:xfrm>
          <a:prstGeom prst="line">
            <a:avLst/>
          </a:prstGeom>
          <a:noFill/>
          <a:ln w="25400">
            <a:solidFill>
              <a:srgbClr val="14B8A6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5477256" y="2249424"/>
            <a:ext cx="338328" cy="0"/>
          </a:xfrm>
          <a:prstGeom prst="line">
            <a:avLst/>
          </a:prstGeom>
          <a:noFill/>
          <a:ln w="25400">
            <a:solidFill>
              <a:srgbClr val="7C3AED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7232904" y="2249424"/>
            <a:ext cx="338328" cy="0"/>
          </a:xfrm>
          <a:prstGeom prst="line">
            <a:avLst/>
          </a:prstGeom>
          <a:noFill/>
          <a:ln w="25400">
            <a:solidFill>
              <a:srgbClr val="14B8A6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8988552" y="2249424"/>
            <a:ext cx="338328" cy="0"/>
          </a:xfrm>
          <a:prstGeom prst="line">
            <a:avLst/>
          </a:prstGeom>
          <a:noFill/>
          <a:ln w="25400">
            <a:solidFill>
              <a:srgbClr val="7C3AED"/>
            </a:solidFill>
            <a:prstDash val="solid"/>
            <a:headEnd type="none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640080" y="1901952"/>
            <a:ext cx="1444752" cy="713232"/>
          </a:xfrm>
          <a:prstGeom prst="rect">
            <a:avLst/>
          </a:prstGeom>
          <a:solidFill>
            <a:srgbClr val="F5F3FF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1. Czytaj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stopień + LR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395728" y="1901952"/>
            <a:ext cx="1444752" cy="713232"/>
          </a:xfrm>
          <a:prstGeom prst="rect">
            <a:avLst/>
          </a:prstGeom>
          <a:solidFill>
            <a:srgbClr val="ECFEFF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2. Wybierz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dane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151376" y="1901952"/>
            <a:ext cx="1444752" cy="713232"/>
          </a:xfrm>
          <a:prstGeom prst="rect">
            <a:avLst/>
          </a:prstGeom>
          <a:solidFill>
            <a:srgbClr val="F5F3FF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3. Utwórz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cechy X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907024" y="1901952"/>
            <a:ext cx="1444752" cy="713232"/>
          </a:xfrm>
          <a:prstGeom prst="rect">
            <a:avLst/>
          </a:prstGeom>
          <a:solidFill>
            <a:srgbClr val="ECFEFF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4. Standaryzuj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cechy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662672" y="1901952"/>
            <a:ext cx="1444752" cy="713232"/>
          </a:xfrm>
          <a:prstGeom prst="rect">
            <a:avLst/>
          </a:prstGeom>
          <a:solidFill>
            <a:srgbClr val="F5F3FF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5. Ucz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model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418320" y="1901952"/>
            <a:ext cx="1444752" cy="713232"/>
          </a:xfrm>
          <a:prstGeom prst="rect">
            <a:avLst/>
          </a:prstGeom>
          <a:solidFill>
            <a:srgbClr val="ECFEFF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6. Rysuj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wyniki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13232" y="3273552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</a:rPr>
              <a:t>Najważniejszy fragment kodu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713232" y="3703320"/>
            <a:ext cx="6126480" cy="1938528"/>
          </a:xfrm>
          <a:prstGeom prst="rect">
            <a:avLst/>
          </a:prstGeom>
          <a:solidFill>
            <a:srgbClr val="FFFFFF"/>
          </a:solidFill>
          <a:ln>
            <a:solidFill>
              <a:srgbClr val="CBD5E1">
                <a:alpha val="70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X_poly = create_polynomial_features(x, degree)</a:t>
            </a:r>
            <a:endParaRPr lang="en-US" sz="1280" dirty="0"/>
          </a:p>
          <a:p>
            <a:pPr indent="0" marL="0">
              <a:buNone/>
            </a:pPr>
            <a:r>
              <a:rPr lang="en-US" sz="128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X_norm, means, stds = standardize_features(X_poly)</a:t>
            </a:r>
            <a:endParaRPr lang="en-US" sz="1280" dirty="0"/>
          </a:p>
          <a:p>
            <a:pPr indent="0" marL="0">
              <a:buNone/>
            </a:pPr>
            <a:r>
              <a:rPr lang="en-US" sz="128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theta, loss_history, exploded = gradient_descent(</a:t>
            </a:r>
            <a:endParaRPr lang="en-US" sz="1280" dirty="0"/>
          </a:p>
          <a:p>
            <a:pPr indent="0" marL="0">
              <a:buNone/>
            </a:pPr>
            <a:r>
              <a:rPr lang="en-US" sz="128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X_norm, y, learning_rate=lr, epochs=1000</a:t>
            </a:r>
            <a:endParaRPr lang="en-US" sz="1280" dirty="0"/>
          </a:p>
          <a:p>
            <a:pPr indent="0" marL="0">
              <a:buNone/>
            </a:pPr>
            <a:r>
              <a:rPr lang="en-US" sz="128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80" dirty="0"/>
          </a:p>
          <a:p>
            <a:pPr indent="0" marL="0">
              <a:buNone/>
            </a:pPr>
            <a:r>
              <a:rPr lang="en-US" sz="128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predictions = X_norm.dot(theta)</a:t>
            </a:r>
            <a:endParaRPr lang="en-US" sz="1280" dirty="0"/>
          </a:p>
          <a:p>
            <a:pPr indent="0" marL="0">
              <a:buNone/>
            </a:pPr>
            <a:r>
              <a:rPr lang="en-US" sz="128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mse = np.mean((predictions - y)**2)</a:t>
            </a:r>
            <a:endParaRPr lang="en-US" sz="1280" dirty="0"/>
          </a:p>
          <a:p>
            <a:pPr indent="0" marL="0">
              <a:buNone/>
            </a:pPr>
            <a:r>
              <a:rPr lang="en-US" sz="128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rmse = np.sqrt(mse)</a:t>
            </a:r>
            <a:endParaRPr lang="en-US" sz="1280" dirty="0"/>
          </a:p>
        </p:txBody>
      </p:sp>
      <p:sp>
        <p:nvSpPr>
          <p:cNvPr id="19" name="Text 17"/>
          <p:cNvSpPr/>
          <p:nvPr/>
        </p:nvSpPr>
        <p:spPr>
          <a:xfrm>
            <a:off x="7315200" y="3730752"/>
            <a:ext cx="4160520" cy="1188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520" b="1" dirty="0">
                <a:solidFill>
                  <a:srgbClr val="334155"/>
                </a:solidFill>
              </a:rPr>
              <a:t>Warto zauważyć: aplikacja nie korzysta z gotowego modelu LinearRegression. Parametry są liczone ręcznie przez spadek gradientowy, więc dobrze nadaje się do pokazania mechaniki uczenia.</a:t>
            </a:r>
            <a:endParaRPr lang="en-US" sz="1520" dirty="0"/>
          </a:p>
        </p:txBody>
      </p:sp>
      <p:sp>
        <p:nvSpPr>
          <p:cNvPr id="20" name="Text 18"/>
          <p:cNvSpPr/>
          <p:nvPr/>
        </p:nvSpPr>
        <p:spPr>
          <a:xfrm>
            <a:off x="11155680" y="644652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11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20624"/>
            <a:ext cx="3931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REGRESJA WIELOMIANOWA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621792" y="749808"/>
            <a:ext cx="7955280" cy="5486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Jak interpretować pokazany screen?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353312"/>
            <a:ext cx="612648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</a:rPr>
              <a:t>Najkrócej: uczenie działa, ale aktualny model jest niedopasowany do kształtu danych.</a:t>
            </a:r>
            <a:endParaRPr lang="en-US" sz="1350" dirty="0"/>
          </a:p>
        </p:txBody>
      </p:sp>
      <p:pic>
        <p:nvPicPr>
          <p:cNvPr id="6" name="Image 0" descr="/mnt/data/plot_lef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6077" y="1828800"/>
            <a:ext cx="4520629" cy="36576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172200" y="18288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</a:rPr>
              <a:t>Wniosek ze screena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6172200" y="2359152"/>
            <a:ext cx="5257800" cy="23317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550" dirty="0">
                <a:solidFill>
                  <a:srgbClr val="334155"/>
                </a:solidFill>
              </a:rPr>
              <a:t>Niebieskie punkty tworzą wyraźną krzywą, a nie linię.</a:t>
            </a:r>
            <a:endParaRPr lang="en-US" sz="1550" dirty="0"/>
          </a:p>
          <a:p>
            <a:pPr marL="177800" indent="-177800">
              <a:buSzPct val="100000"/>
              <a:buChar char="•"/>
            </a:pPr>
            <a:r>
              <a:rPr lang="en-US" sz="1550" dirty="0">
                <a:solidFill>
                  <a:srgbClr val="334155"/>
                </a:solidFill>
              </a:rPr>
              <a:t>Czerwona linia to model stopnia 1, więc model jest zbyt prosty.</a:t>
            </a:r>
            <a:endParaRPr lang="en-US" sz="1550" dirty="0"/>
          </a:p>
          <a:p>
            <a:pPr marL="177800" indent="-177800">
              <a:buSzPct val="100000"/>
              <a:buChar char="•"/>
            </a:pPr>
            <a:r>
              <a:rPr lang="en-US" sz="1550" dirty="0">
                <a:solidFill>
                  <a:srgbClr val="334155"/>
                </a:solidFill>
              </a:rPr>
              <a:t>Krzywa uczenia spadła, czyli gradient descent wykonał swoje zadanie.</a:t>
            </a:r>
            <a:endParaRPr lang="en-US" sz="1550" dirty="0"/>
          </a:p>
          <a:p>
            <a:pPr marL="177800" indent="-177800">
              <a:buSzPct val="100000"/>
              <a:buChar char="•"/>
            </a:pPr>
            <a:r>
              <a:rPr lang="en-US" sz="1550" dirty="0">
                <a:solidFill>
                  <a:srgbClr val="334155"/>
                </a:solidFill>
              </a:rPr>
              <a:t>Wysokie RMSE sugeruje, że warto zwiększyć stopień modelu, np. do 2-4.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6172200" y="5084064"/>
            <a:ext cx="5074920" cy="6035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650" b="1" dirty="0">
                <a:solidFill>
                  <a:srgbClr val="7C3AED"/>
                </a:solidFill>
              </a:rPr>
              <a:t>Dobra prezentacyjna pointa: ten screen nie pokazuje „zepsutego” algorytmu. Pokazuje klasyczny underfitting.</a:t>
            </a:r>
            <a:endParaRPr lang="en-US" sz="1650" dirty="0"/>
          </a:p>
        </p:txBody>
      </p:sp>
      <p:sp>
        <p:nvSpPr>
          <p:cNvPr id="10" name="Text 7"/>
          <p:cNvSpPr/>
          <p:nvPr/>
        </p:nvSpPr>
        <p:spPr>
          <a:xfrm>
            <a:off x="11155680" y="644652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12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841248"/>
            <a:ext cx="5760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Podsumowanie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49808" y="1609344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</a:rPr>
              <a:t>Co warto powiedzieć na koniec?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2423160"/>
            <a:ext cx="502920" cy="502920"/>
          </a:xfrm>
          <a:prstGeom prst="rect">
            <a:avLst/>
          </a:prstGeom>
          <a:solidFill>
            <a:srgbClr val="A78BFA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508760" y="2423160"/>
            <a:ext cx="585216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</a:rPr>
              <a:t>Regresja szuka funkcji, która najlepiej przybliża zależność między X i Y.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22960" y="3337560"/>
            <a:ext cx="502920" cy="502920"/>
          </a:xfrm>
          <a:prstGeom prst="rect">
            <a:avLst/>
          </a:prstGeom>
          <a:solidFill>
            <a:srgbClr val="14B8A6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2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508760" y="3337560"/>
            <a:ext cx="562356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</a:rPr>
              <a:t>Stopień wielomianu kontroluje elastyczność modelu, ale zbyt wysoki stopień może prowadzić do overfittingu.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22960" y="4251960"/>
            <a:ext cx="502920" cy="502920"/>
          </a:xfrm>
          <a:prstGeom prst="rect">
            <a:avLst/>
          </a:prstGeom>
          <a:solidFill>
            <a:srgbClr val="F59E0B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3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508760" y="4251960"/>
            <a:ext cx="562356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</a:rPr>
              <a:t>MSE i RMSE są prostymi miarami jakości: im niższe, tym lepiej, ale trzeba uważać na przeuczenie.</a:t>
            </a:r>
            <a:endParaRPr lang="en-US" sz="1700" dirty="0"/>
          </a:p>
        </p:txBody>
      </p:sp>
      <p:pic>
        <p:nvPicPr>
          <p:cNvPr id="11" name="Image 0" descr="/mnt/data/app_full.png">    </p:cNvPr>
          <p:cNvPicPr>
            <a:picLocks noChangeAspect="1"/>
          </p:cNvPicPr>
          <p:nvPr/>
        </p:nvPicPr>
        <p:blipFill>
          <a:blip r:embed="rId1"/>
          <a:srcRect l="9181" r="9181" t="0" b="0"/>
          <a:stretch/>
        </p:blipFill>
        <p:spPr>
          <a:xfrm>
            <a:off x="7726680" y="1508760"/>
            <a:ext cx="3520440" cy="224028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7726680" y="4206240"/>
            <a:ext cx="3520440" cy="640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E2E8F0"/>
                </a:solidFill>
              </a:rPr>
              <a:t>Aplikacja jest dobrym demo, bo pozwala ręcznie zmieniać parametry i od razu widzieć skutki na wykresie.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11155680" y="644652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13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Interaktywna aplikacja regresji wielomianowej</dc:title>
  <dc:subject>Regresja wielomianowa i spadek gradientowy</dc:subject>
  <dc:creator>OpenAI</dc:creator>
  <cp:lastModifiedBy>OpenAI</cp:lastModifiedBy>
  <cp:revision>1</cp:revision>
  <dcterms:created xsi:type="dcterms:W3CDTF">2026-06-09T21:17:51Z</dcterms:created>
  <dcterms:modified xsi:type="dcterms:W3CDTF">2026-06-09T21:17:51Z</dcterms:modified>
</cp:coreProperties>
</file>